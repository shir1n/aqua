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embeddedFontLst>
    <p:embeddedFont>
      <p:font typeface="Montserrat" panose="00000500000000000000" pitchFamily="2" charset="0"/>
      <p:regular r:id="rId9"/>
      <p:bold r:id="rId10"/>
      <p:italic r:id="rId11"/>
      <p:boldItalic r:id="rId12"/>
    </p:embeddedFont>
    <p:embeddedFont>
      <p:font typeface="Open Sans" panose="020B0606030504020204" pitchFamily="34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8A3D2F-4CA4-5FF4-1E1B-9F1CE2DB09B2}" v="360" dt="2026-09-08T20:09:32.8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hyperlink" Target="https://aquachile-my.sharepoint.com/personal/maria_bustamante_aquachile_com/_layouts/15/Doc.aspx?sourcedoc=%7B23EF89F5-3574-43E8-86A8-32B5B2569987%7D&amp;file=Anexo_Requerimiento_MVP_Evaluacion_Psicolaboral_AquaChile_FullStack%20II.docx&amp;action=default&amp;mobileredirect=true" TargetMode="External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svg"/><Relationship Id="rId7" Type="http://schemas.openxmlformats.org/officeDocument/2006/relationships/image" Target="../media/image29.svg"/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svg"/><Relationship Id="rId5" Type="http://schemas.openxmlformats.org/officeDocument/2006/relationships/image" Target="../media/image34.svg"/><Relationship Id="rId4" Type="http://schemas.openxmlformats.org/officeDocument/2006/relationships/image" Target="../media/image3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255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FE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373" y="422458"/>
            <a:ext cx="146619" cy="13032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33400" y="1282451"/>
            <a:ext cx="533400" cy="38100"/>
          </a:xfrm>
          <a:prstGeom prst="roundRect">
            <a:avLst>
              <a:gd name="adj" fmla="val 50000"/>
            </a:avLst>
          </a:prstGeom>
          <a:solidFill>
            <a:srgbClr val="FE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457200" y="4790033"/>
            <a:ext cx="76200" cy="76200"/>
          </a:xfrm>
          <a:prstGeom prst="ellipse">
            <a:avLst/>
          </a:prstGeom>
          <a:solidFill>
            <a:srgbClr val="FE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3518" y="411350"/>
            <a:ext cx="950987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96" b="1" i="0">
                <a:solidFill>
                  <a:srgbClr val="D7D2CB"/>
                </a:solidFill>
                <a:latin typeface="Montserrat"/>
              </a:rPr>
              <a:t>AquaChile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386" y="918693"/>
            <a:ext cx="2772300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81" b="1" i="0">
                <a:solidFill>
                  <a:srgbClr val="FFB592"/>
                </a:solidFill>
                <a:latin typeface="Open Sans"/>
              </a:rPr>
              <a:t>Proyecto VcM · Full Stack 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386" y="1505210"/>
            <a:ext cx="7395977" cy="20365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11" b="1" i="0">
                <a:solidFill>
                  <a:srgbClr val="FFFFFF"/>
                </a:solidFill>
                <a:latin typeface="Montserrat"/>
              </a:rPr>
              <a:t>Sistema Web para la Gestión de Evaluaciones Psicolaborales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386" y="3744570"/>
            <a:ext cx="5916811" cy="6342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9" b="0" i="0">
                <a:solidFill>
                  <a:srgbClr val="D7D2CB"/>
                </a:solidFill>
                <a:latin typeface="Open Sans"/>
              </a:rPr>
              <a:t>Proyecto Vinculación con el Medio (VcM) — Full Stack II · AquaChile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782" y="4742289"/>
            <a:ext cx="1791845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11" b="0" i="0">
                <a:solidFill>
                  <a:srgbClr val="D7D2CB"/>
                </a:solidFill>
                <a:latin typeface="Open Sans"/>
              </a:rPr>
              <a:t>DUOC UC · Septiembre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25615" y="4708952"/>
            <a:ext cx="1409009" cy="238119"/>
          </a:xfrm>
          <a:prstGeom prst="rect">
            <a:avLst/>
          </a:prstGeom>
          <a:solidFill>
            <a:srgbClr val="FE5000"/>
          </a:solidFill>
        </p:spPr>
        <p:txBody>
          <a:bodyPr wrap="none" lIns="106677" tIns="38099" rIns="106677" bIns="38099">
            <a:spAutoFit/>
          </a:bodyPr>
          <a:lstStyle/>
          <a:p>
            <a:pPr algn="l"/>
            <a:r>
              <a:rPr sz="818" b="1" i="0">
                <a:solidFill>
                  <a:srgbClr val="272727"/>
                </a:solidFill>
                <a:latin typeface="Open Sans"/>
              </a:rPr>
              <a:t>Academic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122735"/>
            <a:ext cx="457200" cy="38100"/>
          </a:xfrm>
          <a:prstGeom prst="roundRect">
            <a:avLst>
              <a:gd name="adj" fmla="val 50000"/>
            </a:avLst>
          </a:prstGeom>
          <a:solidFill>
            <a:srgbClr val="FE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5020" y="5660877"/>
            <a:ext cx="104772" cy="9313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5" cy="68578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188" y="1650016"/>
            <a:ext cx="3813029" cy="4095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322" b="1" i="0">
                <a:solidFill>
                  <a:srgbClr val="425563"/>
                </a:solidFill>
                <a:latin typeface="Montserrat"/>
              </a:rPr>
              <a:t>¿Quién es AquaChile?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188" y="2353062"/>
            <a:ext cx="4849443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200" b="1" dirty="0" err="1">
                <a:solidFill>
                  <a:srgbClr val="425563"/>
                </a:solidFill>
                <a:latin typeface="Open Sans"/>
                <a:ea typeface="Open Sans"/>
                <a:cs typeface="Open Sans"/>
              </a:rPr>
              <a:t>AquaChile</a:t>
            </a:r>
            <a:r>
              <a:rPr lang="en-US" sz="1200" b="1" dirty="0">
                <a:solidFill>
                  <a:srgbClr val="425563"/>
                </a:solidFill>
                <a:latin typeface="Open Sans"/>
                <a:ea typeface="Open Sans"/>
                <a:cs typeface="Open Sans"/>
              </a:rPr>
              <a:t> es </a:t>
            </a:r>
            <a:r>
              <a:rPr lang="en-US" sz="1200" b="1" dirty="0" err="1">
                <a:solidFill>
                  <a:srgbClr val="425563"/>
                </a:solidFill>
                <a:latin typeface="Open Sans"/>
                <a:ea typeface="Open Sans"/>
                <a:cs typeface="Open Sans"/>
              </a:rPr>
              <a:t>una</a:t>
            </a:r>
            <a:r>
              <a:rPr lang="en-US" sz="1200" b="1" dirty="0">
                <a:solidFill>
                  <a:srgbClr val="42556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200" b="1" dirty="0" err="1">
                <a:solidFill>
                  <a:srgbClr val="425563"/>
                </a:solidFill>
                <a:latin typeface="Open Sans"/>
                <a:ea typeface="Open Sans"/>
                <a:cs typeface="Open Sans"/>
              </a:rPr>
              <a:t>empresa</a:t>
            </a:r>
            <a:r>
              <a:rPr lang="en-US" sz="1200" b="1" dirty="0">
                <a:solidFill>
                  <a:srgbClr val="42556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200" b="1" dirty="0" err="1">
                <a:solidFill>
                  <a:srgbClr val="425563"/>
                </a:solidFill>
                <a:latin typeface="Open Sans"/>
                <a:ea typeface="Open Sans"/>
                <a:cs typeface="Open Sans"/>
              </a:rPr>
              <a:t>salmonera</a:t>
            </a:r>
            <a:r>
              <a:rPr lang="en-US" sz="1200" b="1" dirty="0">
                <a:solidFill>
                  <a:srgbClr val="425563"/>
                </a:solidFill>
                <a:latin typeface="Open Sans"/>
                <a:ea typeface="Open Sans"/>
                <a:cs typeface="Open Sans"/>
              </a:rPr>
              <a:t> de </a:t>
            </a:r>
            <a:r>
              <a:rPr lang="en-US" sz="1200" b="1" dirty="0" err="1">
                <a:solidFill>
                  <a:srgbClr val="425563"/>
                </a:solidFill>
                <a:latin typeface="Open Sans"/>
                <a:ea typeface="Open Sans"/>
                <a:cs typeface="Open Sans"/>
              </a:rPr>
              <a:t>clase</a:t>
            </a:r>
            <a:r>
              <a:rPr lang="en-US" sz="1200" b="1" dirty="0">
                <a:solidFill>
                  <a:srgbClr val="42556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200" b="1" dirty="0" err="1">
                <a:solidFill>
                  <a:srgbClr val="425563"/>
                </a:solidFill>
                <a:latin typeface="Open Sans"/>
                <a:ea typeface="Open Sans"/>
                <a:cs typeface="Open Sans"/>
              </a:rPr>
              <a:t>mundial</a:t>
            </a:r>
            <a:r>
              <a:rPr lang="en-US" sz="1200" b="1" dirty="0">
                <a:solidFill>
                  <a:srgbClr val="42556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200" b="1" dirty="0" err="1">
                <a:solidFill>
                  <a:srgbClr val="425563"/>
                </a:solidFill>
                <a:latin typeface="Open Sans"/>
                <a:ea typeface="Open Sans"/>
                <a:cs typeface="Open Sans"/>
              </a:rPr>
              <a:t>ubicada</a:t>
            </a:r>
            <a:r>
              <a:rPr lang="en-US" sz="1200" b="1" dirty="0">
                <a:solidFill>
                  <a:srgbClr val="42556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200" b="1" dirty="0" err="1">
                <a:solidFill>
                  <a:srgbClr val="425563"/>
                </a:solidFill>
                <a:latin typeface="Open Sans"/>
                <a:ea typeface="Open Sans"/>
                <a:cs typeface="Open Sans"/>
              </a:rPr>
              <a:t>en</a:t>
            </a:r>
            <a:r>
              <a:rPr lang="en-US" sz="1200" b="1" dirty="0">
                <a:solidFill>
                  <a:srgbClr val="425563"/>
                </a:solidFill>
                <a:latin typeface="Open Sans"/>
                <a:ea typeface="Open Sans"/>
                <a:cs typeface="Open Sans"/>
              </a:rPr>
              <a:t> el sur de Chile, </a:t>
            </a:r>
            <a:r>
              <a:rPr lang="en-US" sz="1200" b="1" dirty="0" err="1">
                <a:solidFill>
                  <a:srgbClr val="425563"/>
                </a:solidFill>
                <a:latin typeface="Open Sans"/>
                <a:ea typeface="Open Sans"/>
                <a:cs typeface="Open Sans"/>
              </a:rPr>
              <a:t>comprometida</a:t>
            </a:r>
            <a:r>
              <a:rPr lang="en-US" sz="1200" b="1" dirty="0">
                <a:solidFill>
                  <a:srgbClr val="425563"/>
                </a:solidFill>
                <a:latin typeface="Open Sans"/>
                <a:ea typeface="Open Sans"/>
                <a:cs typeface="Open Sans"/>
              </a:rPr>
              <a:t> con </a:t>
            </a:r>
            <a:r>
              <a:rPr lang="en-US" sz="1200" b="1" dirty="0" err="1">
                <a:solidFill>
                  <a:srgbClr val="425563"/>
                </a:solidFill>
                <a:latin typeface="Open Sans"/>
                <a:ea typeface="Open Sans"/>
                <a:cs typeface="Open Sans"/>
              </a:rPr>
              <a:t>llevar</a:t>
            </a:r>
            <a:r>
              <a:rPr lang="en-US" sz="1200" b="1" dirty="0">
                <a:solidFill>
                  <a:srgbClr val="425563"/>
                </a:solidFill>
                <a:latin typeface="Open Sans"/>
                <a:ea typeface="Open Sans"/>
                <a:cs typeface="Open Sans"/>
              </a:rPr>
              <a:t> al </a:t>
            </a:r>
            <a:r>
              <a:rPr lang="en-US" sz="1200" b="1" dirty="0" err="1">
                <a:solidFill>
                  <a:srgbClr val="425563"/>
                </a:solidFill>
                <a:latin typeface="Open Sans"/>
                <a:ea typeface="Open Sans"/>
                <a:cs typeface="Open Sans"/>
              </a:rPr>
              <a:t>mundo</a:t>
            </a:r>
            <a:r>
              <a:rPr lang="en-US" sz="1200" b="1" dirty="0">
                <a:solidFill>
                  <a:srgbClr val="425563"/>
                </a:solidFill>
                <a:latin typeface="Open Sans"/>
                <a:ea typeface="Open Sans"/>
                <a:cs typeface="Open Sans"/>
              </a:rPr>
              <a:t> lo </a:t>
            </a:r>
            <a:r>
              <a:rPr lang="en-US" sz="1200" b="1" dirty="0" err="1">
                <a:solidFill>
                  <a:srgbClr val="425563"/>
                </a:solidFill>
                <a:latin typeface="Open Sans"/>
                <a:ea typeface="Open Sans"/>
                <a:cs typeface="Open Sans"/>
              </a:rPr>
              <a:t>mejor</a:t>
            </a:r>
            <a:r>
              <a:rPr lang="en-US" sz="1200" b="1" dirty="0">
                <a:solidFill>
                  <a:srgbClr val="425563"/>
                </a:solidFill>
                <a:latin typeface="Open Sans"/>
                <a:ea typeface="Open Sans"/>
                <a:cs typeface="Open Sans"/>
              </a:rPr>
              <a:t> de sus </a:t>
            </a:r>
            <a:r>
              <a:rPr lang="en-US" sz="1200" b="1" dirty="0" err="1">
                <a:solidFill>
                  <a:srgbClr val="425563"/>
                </a:solidFill>
                <a:latin typeface="Open Sans"/>
                <a:ea typeface="Open Sans"/>
                <a:cs typeface="Open Sans"/>
              </a:rPr>
              <a:t>recursos</a:t>
            </a:r>
            <a:r>
              <a:rPr lang="en-US" sz="1200" b="1" dirty="0">
                <a:solidFill>
                  <a:srgbClr val="425563"/>
                </a:solidFill>
                <a:latin typeface="Open Sans"/>
                <a:ea typeface="Open Sans"/>
                <a:cs typeface="Open Sans"/>
              </a:rPr>
              <a:t> naturales</a:t>
            </a:r>
            <a:r>
              <a:rPr lang="en-US" sz="1200" dirty="0">
                <a:solidFill>
                  <a:srgbClr val="2E3D48"/>
                </a:solidFill>
                <a:latin typeface="Open Sans"/>
                <a:ea typeface="Open Sans"/>
                <a:cs typeface="Open Sans"/>
              </a:rPr>
              <a:t>. </a:t>
            </a:r>
            <a:endParaRPr lang="en-US" b="1" dirty="0">
              <a:latin typeface="Open Sans"/>
              <a:ea typeface="Open Sans"/>
              <a:cs typeface="Open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9007" y="5612195"/>
            <a:ext cx="3429211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36" b="1" i="0">
                <a:solidFill>
                  <a:srgbClr val="207C6F"/>
                </a:solidFill>
                <a:latin typeface="Open Sans"/>
              </a:rPr>
              <a:t>Proyecto con impacto real — no solo académico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188" y="3326225"/>
            <a:ext cx="5718296" cy="10114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97485" indent="-197485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C93F00"/>
              </a:buClr>
              <a:buSzPct val="100000"/>
              <a:buFont typeface="Open Sans" charset="0"/>
              <a:buChar char="●"/>
            </a:pPr>
            <a:r>
              <a:rPr lang="en-US" sz="1150" b="0" i="0" dirty="0" err="1">
                <a:solidFill>
                  <a:srgbClr val="2E3D48"/>
                </a:solidFill>
                <a:latin typeface="Open Sans"/>
              </a:rPr>
              <a:t>Contamos</a:t>
            </a:r>
            <a:r>
              <a:rPr lang="en-US" sz="1150" b="0" i="0" dirty="0">
                <a:solidFill>
                  <a:srgbClr val="2E3D48"/>
                </a:solidFill>
                <a:latin typeface="Open Sans"/>
              </a:rPr>
              <a:t> con </a:t>
            </a:r>
            <a:r>
              <a:rPr lang="en-US" sz="1150" b="0" i="0" dirty="0" err="1">
                <a:solidFill>
                  <a:srgbClr val="2E3D48"/>
                </a:solidFill>
                <a:latin typeface="Open Sans"/>
              </a:rPr>
              <a:t>todo</a:t>
            </a:r>
            <a:r>
              <a:rPr lang="en-US" sz="1150" b="0" i="0" dirty="0">
                <a:solidFill>
                  <a:srgbClr val="2E3D48"/>
                </a:solidFill>
                <a:latin typeface="Open Sans"/>
              </a:rPr>
              <a:t> el </a:t>
            </a:r>
            <a:r>
              <a:rPr lang="en-US" sz="1150" b="0" i="0" dirty="0" err="1">
                <a:solidFill>
                  <a:srgbClr val="2E3D48"/>
                </a:solidFill>
                <a:latin typeface="Open Sans"/>
              </a:rPr>
              <a:t>proceso</a:t>
            </a:r>
            <a:r>
              <a:rPr lang="en-US" sz="1150" b="0" i="0" dirty="0">
                <a:solidFill>
                  <a:srgbClr val="2E3D48"/>
                </a:solidFill>
                <a:latin typeface="Open Sans"/>
              </a:rPr>
              <a:t> </a:t>
            </a:r>
            <a:r>
              <a:rPr lang="en-US" sz="1150" b="0" i="0" dirty="0" err="1">
                <a:solidFill>
                  <a:srgbClr val="2E3D48"/>
                </a:solidFill>
                <a:latin typeface="Open Sans"/>
              </a:rPr>
              <a:t>productivo</a:t>
            </a:r>
            <a:r>
              <a:rPr lang="en-US" sz="1150" b="0" i="0" dirty="0">
                <a:solidFill>
                  <a:srgbClr val="2E3D48"/>
                </a:solidFill>
                <a:latin typeface="Open Sans"/>
              </a:rPr>
              <a:t> del </a:t>
            </a:r>
            <a:r>
              <a:rPr lang="en-US" sz="1150" b="0" i="0" dirty="0" err="1">
                <a:solidFill>
                  <a:srgbClr val="2E3D48"/>
                </a:solidFill>
                <a:latin typeface="Open Sans"/>
              </a:rPr>
              <a:t>salmón</a:t>
            </a:r>
            <a:r>
              <a:rPr lang="en-US" sz="1150" b="0" i="0" dirty="0">
                <a:solidFill>
                  <a:srgbClr val="2E3D48"/>
                </a:solidFill>
                <a:latin typeface="Open Sans"/>
              </a:rPr>
              <a:t> </a:t>
            </a:r>
            <a:r>
              <a:rPr lang="en-US" sz="1150" b="0" i="0" dirty="0" err="1">
                <a:solidFill>
                  <a:srgbClr val="2E3D48"/>
                </a:solidFill>
                <a:latin typeface="Open Sans"/>
              </a:rPr>
              <a:t>integrado</a:t>
            </a:r>
            <a:r>
              <a:rPr lang="en-US" sz="1150" b="0" i="0" dirty="0">
                <a:solidFill>
                  <a:srgbClr val="2E3D48"/>
                </a:solidFill>
                <a:latin typeface="Open Sans"/>
              </a:rPr>
              <a:t>: </a:t>
            </a:r>
            <a:r>
              <a:rPr lang="en-US" sz="1150" b="0" i="0" dirty="0" err="1">
                <a:solidFill>
                  <a:srgbClr val="2E3D48"/>
                </a:solidFill>
                <a:latin typeface="Open Sans"/>
              </a:rPr>
              <a:t>genética</a:t>
            </a:r>
            <a:r>
              <a:rPr lang="en-US" sz="1150" b="0" i="0" dirty="0">
                <a:solidFill>
                  <a:srgbClr val="2E3D48"/>
                </a:solidFill>
                <a:latin typeface="Open Sans"/>
              </a:rPr>
              <a:t>, </a:t>
            </a:r>
            <a:r>
              <a:rPr lang="en-US" sz="1150" b="0" i="0" dirty="0" err="1">
                <a:solidFill>
                  <a:srgbClr val="2E3D48"/>
                </a:solidFill>
                <a:latin typeface="Open Sans"/>
              </a:rPr>
              <a:t>agua</a:t>
            </a:r>
            <a:r>
              <a:rPr lang="en-US" sz="1150" b="0" i="0" dirty="0">
                <a:solidFill>
                  <a:srgbClr val="2E3D48"/>
                </a:solidFill>
                <a:latin typeface="Open Sans"/>
              </a:rPr>
              <a:t> dulce, </a:t>
            </a:r>
            <a:r>
              <a:rPr lang="en-US" sz="1150" b="0" i="0" dirty="0" err="1">
                <a:solidFill>
                  <a:srgbClr val="2E3D48"/>
                </a:solidFill>
                <a:latin typeface="Open Sans"/>
              </a:rPr>
              <a:t>engorda</a:t>
            </a:r>
            <a:r>
              <a:rPr lang="en-US" sz="1150" b="0" i="0" dirty="0">
                <a:solidFill>
                  <a:srgbClr val="2E3D48"/>
                </a:solidFill>
                <a:latin typeface="Open Sans"/>
              </a:rPr>
              <a:t> </a:t>
            </a:r>
            <a:r>
              <a:rPr lang="en-US" sz="1150" b="0" i="0" dirty="0" err="1">
                <a:solidFill>
                  <a:srgbClr val="2E3D48"/>
                </a:solidFill>
                <a:latin typeface="Open Sans"/>
              </a:rPr>
              <a:t>en</a:t>
            </a:r>
            <a:r>
              <a:rPr lang="en-US" sz="1150" b="0" i="0" dirty="0">
                <a:solidFill>
                  <a:srgbClr val="2E3D48"/>
                </a:solidFill>
                <a:latin typeface="Open Sans"/>
              </a:rPr>
              <a:t> mar, </a:t>
            </a:r>
            <a:r>
              <a:rPr lang="en-US" sz="1150" b="0" i="0" dirty="0" err="1">
                <a:solidFill>
                  <a:srgbClr val="2E3D48"/>
                </a:solidFill>
                <a:latin typeface="Open Sans"/>
              </a:rPr>
              <a:t>procesamiento</a:t>
            </a:r>
            <a:r>
              <a:rPr lang="en-US" sz="1150" b="0" i="0" dirty="0">
                <a:solidFill>
                  <a:srgbClr val="2E3D48"/>
                </a:solidFill>
                <a:latin typeface="Open Sans"/>
              </a:rPr>
              <a:t> y </a:t>
            </a:r>
            <a:r>
              <a:rPr lang="en-US" sz="1150" b="0" i="0" dirty="0" err="1">
                <a:solidFill>
                  <a:srgbClr val="2E3D48"/>
                </a:solidFill>
                <a:latin typeface="Open Sans"/>
              </a:rPr>
              <a:t>comercialización</a:t>
            </a:r>
            <a:r>
              <a:rPr lang="en-US" sz="1150" b="0" i="0" dirty="0">
                <a:solidFill>
                  <a:srgbClr val="2E3D48"/>
                </a:solidFill>
                <a:latin typeface="Open Sans"/>
              </a:rPr>
              <a:t>.</a:t>
            </a:r>
            <a:endParaRPr lang="en-US" sz="1150" b="0" i="0" dirty="0">
              <a:solidFill>
                <a:srgbClr val="2E3D48"/>
              </a:solidFill>
              <a:latin typeface="Open Sans"/>
              <a:ea typeface="Open Sans"/>
              <a:cs typeface="Open Sans"/>
            </a:endParaRPr>
          </a:p>
          <a:p>
            <a:pPr marL="197485" indent="-197485">
              <a:lnSpc>
                <a:spcPct val="200000"/>
              </a:lnSpc>
              <a:buClr>
                <a:srgbClr val="C93F00"/>
              </a:buClr>
              <a:buSzPct val="100000"/>
              <a:buFont typeface="Open Sans" charset="0"/>
              <a:buChar char="●"/>
            </a:pPr>
            <a:r>
              <a:rPr lang="en-US" sz="1150" b="0" i="0" dirty="0" err="1">
                <a:solidFill>
                  <a:srgbClr val="2E3D48"/>
                </a:solidFill>
                <a:latin typeface="Open Sans"/>
              </a:rPr>
              <a:t>Área</a:t>
            </a:r>
            <a:r>
              <a:rPr lang="en-US" sz="1150" b="0" i="0" dirty="0">
                <a:solidFill>
                  <a:srgbClr val="2E3D48"/>
                </a:solidFill>
                <a:latin typeface="Open Sans"/>
              </a:rPr>
              <a:t> </a:t>
            </a:r>
            <a:r>
              <a:rPr lang="en-US" sz="1150" b="0" i="0" dirty="0" err="1">
                <a:solidFill>
                  <a:srgbClr val="2E3D48"/>
                </a:solidFill>
                <a:latin typeface="Open Sans"/>
              </a:rPr>
              <a:t>involucrada</a:t>
            </a:r>
            <a:r>
              <a:rPr lang="en-US" sz="1150" dirty="0">
                <a:solidFill>
                  <a:srgbClr val="2E3D48"/>
                </a:solidFill>
                <a:latin typeface="Open Sans"/>
              </a:rPr>
              <a:t> del </a:t>
            </a:r>
            <a:r>
              <a:rPr lang="en-US" sz="1150" dirty="0" err="1">
                <a:solidFill>
                  <a:srgbClr val="2E3D48"/>
                </a:solidFill>
                <a:latin typeface="Open Sans"/>
              </a:rPr>
              <a:t>proyecto</a:t>
            </a:r>
            <a:r>
              <a:rPr lang="en-US" sz="1150" b="0" i="0" dirty="0">
                <a:solidFill>
                  <a:srgbClr val="2E3D48"/>
                </a:solidFill>
                <a:latin typeface="Open Sans"/>
              </a:rPr>
              <a:t>: </a:t>
            </a:r>
            <a:r>
              <a:rPr lang="en-US" sz="1150" b="1" i="0" dirty="0" err="1">
                <a:solidFill>
                  <a:srgbClr val="2E3D48"/>
                </a:solidFill>
                <a:latin typeface="Open Sans"/>
              </a:rPr>
              <a:t>Reclutamiento</a:t>
            </a:r>
            <a:r>
              <a:rPr lang="en-US" sz="1150" b="1" i="0" dirty="0">
                <a:solidFill>
                  <a:srgbClr val="2E3D48"/>
                </a:solidFill>
                <a:latin typeface="Open Sans"/>
              </a:rPr>
              <a:t> y </a:t>
            </a:r>
            <a:r>
              <a:rPr lang="en-US" sz="1150" b="1" i="0" dirty="0" err="1">
                <a:solidFill>
                  <a:srgbClr val="2E3D48"/>
                </a:solidFill>
                <a:latin typeface="Open Sans"/>
              </a:rPr>
              <a:t>Selección</a:t>
            </a:r>
            <a:r>
              <a:rPr lang="en-US" sz="1150" b="1" i="0" dirty="0">
                <a:solidFill>
                  <a:srgbClr val="2E3D48"/>
                </a:solidFill>
                <a:latin typeface="Open Sans"/>
              </a:rPr>
              <a:t> </a:t>
            </a:r>
            <a:endParaRPr lang="en-US" sz="1150" b="1" i="0">
              <a:solidFill>
                <a:srgbClr val="2E3D48"/>
              </a:solidFill>
              <a:latin typeface="Open Sans"/>
              <a:ea typeface="Open Sans"/>
              <a:cs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766316"/>
            <a:ext cx="533400" cy="38100"/>
          </a:xfrm>
          <a:prstGeom prst="roundRect">
            <a:avLst>
              <a:gd name="adj" fmla="val 50000"/>
            </a:avLst>
          </a:prstGeom>
          <a:solidFill>
            <a:srgbClr val="FE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2572196"/>
            <a:ext cx="5864274" cy="823912"/>
          </a:xfrm>
          <a:prstGeom prst="roundRect">
            <a:avLst>
              <a:gd name="adj" fmla="val 924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19125" y="2696021"/>
            <a:ext cx="381000" cy="381000"/>
          </a:xfrm>
          <a:prstGeom prst="ellipse">
            <a:avLst/>
          </a:prstGeom>
          <a:solidFill>
            <a:srgbClr val="42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1873" y="2826243"/>
            <a:ext cx="135463" cy="12041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3495079"/>
            <a:ext cx="5864274" cy="823912"/>
          </a:xfrm>
          <a:prstGeom prst="roundRect">
            <a:avLst>
              <a:gd name="adj" fmla="val 924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19125" y="3618904"/>
            <a:ext cx="381000" cy="381000"/>
          </a:xfrm>
          <a:prstGeom prst="ellipse">
            <a:avLst/>
          </a:prstGeom>
          <a:solidFill>
            <a:srgbClr val="42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2925" y="3742619"/>
            <a:ext cx="133386" cy="13338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57200" y="4417962"/>
            <a:ext cx="5864274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19125" y="4541787"/>
            <a:ext cx="381000" cy="381000"/>
          </a:xfrm>
          <a:prstGeom prst="ellipse">
            <a:avLst/>
          </a:prstGeom>
          <a:solidFill>
            <a:srgbClr val="42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2922" y="4655971"/>
            <a:ext cx="133355" cy="15239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626274" y="2625774"/>
            <a:ext cx="4962078" cy="1504652"/>
          </a:xfrm>
          <a:prstGeom prst="roundRect">
            <a:avLst>
              <a:gd name="adj" fmla="val 506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818560" y="3077170"/>
            <a:ext cx="774948" cy="253305"/>
          </a:xfrm>
          <a:prstGeom prst="roundRect">
            <a:avLst>
              <a:gd name="adj" fmla="val 50000"/>
            </a:avLst>
          </a:prstGeom>
          <a:solidFill>
            <a:srgbClr val="EEE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24055" y="3146594"/>
            <a:ext cx="85722" cy="114297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669708" y="3077170"/>
            <a:ext cx="733871" cy="253305"/>
          </a:xfrm>
          <a:prstGeom prst="roundRect">
            <a:avLst>
              <a:gd name="adj" fmla="val 50000"/>
            </a:avLst>
          </a:prstGeom>
          <a:solidFill>
            <a:srgbClr val="EEE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75181" y="3160881"/>
            <a:ext cx="85722" cy="8572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479780" y="3077170"/>
            <a:ext cx="617041" cy="253305"/>
          </a:xfrm>
          <a:prstGeom prst="roundRect">
            <a:avLst>
              <a:gd name="adj" fmla="val 50000"/>
            </a:avLst>
          </a:prstGeom>
          <a:solidFill>
            <a:srgbClr val="EEE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70946" y="3146594"/>
            <a:ext cx="114297" cy="11429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9173021" y="3077170"/>
            <a:ext cx="840283" cy="253305"/>
          </a:xfrm>
          <a:prstGeom prst="roundRect">
            <a:avLst>
              <a:gd name="adj" fmla="val 50000"/>
            </a:avLst>
          </a:prstGeom>
          <a:solidFill>
            <a:srgbClr val="EEE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71314" y="3153737"/>
            <a:ext cx="100009" cy="100009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10089505" y="3077170"/>
            <a:ext cx="689520" cy="253305"/>
          </a:xfrm>
          <a:prstGeom prst="roundRect">
            <a:avLst>
              <a:gd name="adj" fmla="val 50000"/>
            </a:avLst>
          </a:prstGeom>
          <a:solidFill>
            <a:srgbClr val="EEE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94025" y="3153737"/>
            <a:ext cx="87507" cy="100009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6818560" y="3406675"/>
            <a:ext cx="777924" cy="253305"/>
          </a:xfrm>
          <a:prstGeom prst="roundRect">
            <a:avLst>
              <a:gd name="adj" fmla="val 50000"/>
            </a:avLst>
          </a:prstGeom>
          <a:solidFill>
            <a:srgbClr val="EEE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16911" y="3476091"/>
            <a:ext cx="100009" cy="114297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841951" y="3807458"/>
            <a:ext cx="89945" cy="119927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6626274" y="4282826"/>
            <a:ext cx="4962078" cy="710207"/>
          </a:xfrm>
          <a:prstGeom prst="roundRect">
            <a:avLst>
              <a:gd name="adj" fmla="val 10729"/>
            </a:avLst>
          </a:prstGeom>
          <a:solidFill>
            <a:srgbClr val="42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809035" y="4437905"/>
            <a:ext cx="400050" cy="400050"/>
          </a:xfrm>
          <a:prstGeom prst="ellipse">
            <a:avLst/>
          </a:prstGeom>
          <a:solidFill>
            <a:srgbClr val="FFB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935576" y="4564500"/>
            <a:ext cx="146629" cy="14662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57188" y="316103"/>
            <a:ext cx="2861893" cy="4095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322" b="1" i="0">
                <a:solidFill>
                  <a:srgbClr val="425563"/>
                </a:solidFill>
                <a:latin typeface="Montserrat"/>
              </a:rPr>
              <a:t>La Problemática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188" y="880593"/>
            <a:ext cx="9727907" cy="22859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425563"/>
                </a:solidFill>
                <a:latin typeface="Open Sans"/>
              </a:rPr>
              <a:t>El proceso de evaluación psicolaboral se gestiona de forma dispersa, lo que genera pérdida de visibilidad y eficiencia.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577" y="2695954"/>
            <a:ext cx="2420182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96" b="1" i="0">
                <a:solidFill>
                  <a:srgbClr val="425563"/>
                </a:solidFill>
                <a:latin typeface="Montserrat"/>
              </a:rPr>
              <a:t>Proceso complejo y multi-elemento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577" y="2878710"/>
            <a:ext cx="4930850" cy="3824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25" b="0" i="0">
                <a:solidFill>
                  <a:srgbClr val="2E3D48"/>
                </a:solidFill>
                <a:latin typeface="Open Sans"/>
              </a:rPr>
              <a:t>El proceso requiere administrar candidatos, cargos, solicitudes, responsables, estados y resultados de evaluación.</a:t>
            </a:r>
            <a:r>
              <a:rPr sz="968" b="0" i="0">
                <a:solidFill>
                  <a:srgbClr val="228477"/>
                </a:solidFill>
                <a:latin typeface="Open Sans"/>
              </a:rPr>
              <a:t> </a:t>
            </a:r>
            <a:r>
              <a:rPr sz="968" b="0" i="0">
                <a:solidFill>
                  <a:srgbClr val="228477"/>
                </a:solidFill>
                <a:latin typeface="Open Sans"/>
                <a:hlinkClick r:id="rId13" tooltip="Anexo_Requerimiento_MVP_Evaluacion_Psicolaboral_AquaC...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577" y="3618814"/>
            <a:ext cx="2346067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96" b="1" i="0">
                <a:solidFill>
                  <a:srgbClr val="425563"/>
                </a:solidFill>
                <a:latin typeface="Montserrat"/>
              </a:rPr>
              <a:t>Herramientas dispersas, sin centro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9577" y="3801570"/>
            <a:ext cx="5009429" cy="3824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25" b="0" i="0">
                <a:solidFill>
                  <a:srgbClr val="2E3D48"/>
                </a:solidFill>
                <a:latin typeface="Open Sans"/>
              </a:rPr>
              <a:t>Hoy se utilizan registros y tareas distribuidas en distintas herramientas, lo que dificulta tener una visión centralizada y simple del estado de cada solicitud.</a:t>
            </a:r>
            <a:r>
              <a:rPr sz="968" b="0" i="0">
                <a:solidFill>
                  <a:srgbClr val="228477"/>
                </a:solidFill>
                <a:latin typeface="Open Sans"/>
              </a:rPr>
              <a:t> </a:t>
            </a:r>
            <a:r>
              <a:rPr sz="968" b="0" i="0">
                <a:solidFill>
                  <a:srgbClr val="228477"/>
                </a:solidFill>
                <a:latin typeface="Open Sans"/>
                <a:hlinkClick r:id="rId13" tooltip="Anexo_Requerimiento_MVP_Evaluacion_Psicolaboral_AquaC...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9577" y="4541674"/>
            <a:ext cx="1794226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96" b="1" i="0">
                <a:solidFill>
                  <a:srgbClr val="425563"/>
                </a:solidFill>
                <a:latin typeface="Montserrat"/>
              </a:rPr>
              <a:t>Seguimiento 100% manual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9577" y="4724430"/>
            <a:ext cx="4721454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25" b="0" i="0">
                <a:solidFill>
                  <a:srgbClr val="2E3D48"/>
                </a:solidFill>
                <a:latin typeface="Open Sans"/>
              </a:rPr>
              <a:t>El resultado: tiempo perdido, información dispersa y seguimiento manual.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8389" y="2802809"/>
            <a:ext cx="2892551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5" b="1" i="0">
                <a:solidFill>
                  <a:srgbClr val="6E6259"/>
                </a:solidFill>
                <a:latin typeface="Montserrat"/>
              </a:rPr>
              <a:t>Situación actual — fragmentación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77344" y="3122782"/>
            <a:ext cx="424596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18" b="1" i="0">
                <a:solidFill>
                  <a:srgbClr val="425563"/>
                </a:solidFill>
                <a:latin typeface="Open Sans"/>
              </a:rPr>
              <a:t>Planilla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28471" y="3122782"/>
            <a:ext cx="383520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18" b="1" i="0">
                <a:solidFill>
                  <a:srgbClr val="425563"/>
                </a:solidFill>
                <a:latin typeface="Open Sans"/>
              </a:rPr>
              <a:t>Correo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38522" y="3122782"/>
            <a:ext cx="266693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18" b="1" i="0">
                <a:solidFill>
                  <a:srgbClr val="425563"/>
                </a:solidFill>
                <a:latin typeface="Open Sans"/>
              </a:rPr>
              <a:t>Chat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31746" y="3122782"/>
            <a:ext cx="489929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18" b="1" i="0">
                <a:solidFill>
                  <a:srgbClr val="425563"/>
                </a:solidFill>
                <a:latin typeface="Open Sans"/>
              </a:rPr>
              <a:t>Archivos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48207" y="3122782"/>
            <a:ext cx="339170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18" b="1" i="0">
                <a:solidFill>
                  <a:srgbClr val="425563"/>
                </a:solidFill>
                <a:latin typeface="Open Sans"/>
              </a:rPr>
              <a:t>Notas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77344" y="3452279"/>
            <a:ext cx="427572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18" b="1" i="0">
                <a:solidFill>
                  <a:srgbClr val="425563"/>
                </a:solidFill>
                <a:latin typeface="Open Sans"/>
              </a:rPr>
              <a:t>Agenda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16326" y="3781776"/>
            <a:ext cx="2078481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33" b="0" i="1">
                <a:solidFill>
                  <a:srgbClr val="6E6259"/>
                </a:solidFill>
                <a:latin typeface="Open Sans"/>
              </a:rPr>
              <a:t>Sin integración · Sin visibilidad central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45972" y="4435115"/>
            <a:ext cx="3980159" cy="3931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36" b="1" i="0">
                <a:solidFill>
                  <a:srgbClr val="FFFFFF"/>
                </a:solidFill>
                <a:latin typeface="Open Sans"/>
              </a:rPr>
              <a:t>Ninguna herramienta consolida candidatos, solicitudes y evaluaciones en un único lugar.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25565" y="6442608"/>
            <a:ext cx="1608940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11" b="0" i="0">
                <a:solidFill>
                  <a:srgbClr val="6E6259"/>
                </a:solidFill>
                <a:latin typeface="Open Sans"/>
              </a:rPr>
              <a:t>DUOC UC · Septiembre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8100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FE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2570559"/>
            <a:ext cx="4736455" cy="723900"/>
          </a:xfrm>
          <a:prstGeom prst="roundRect">
            <a:avLst>
              <a:gd name="adj" fmla="val 13157"/>
            </a:avLst>
          </a:prstGeom>
          <a:solidFill>
            <a:srgbClr val="1A6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70470" y="2722959"/>
            <a:ext cx="419100" cy="4191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3291" y="2837577"/>
            <a:ext cx="213265" cy="18956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3294459"/>
            <a:ext cx="4736455" cy="723900"/>
          </a:xfrm>
          <a:prstGeom prst="rect">
            <a:avLst/>
          </a:prstGeom>
          <a:solidFill>
            <a:srgbClr val="42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70470" y="3446859"/>
            <a:ext cx="419100" cy="4191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9398" y="3555717"/>
            <a:ext cx="201009" cy="20100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4018359"/>
            <a:ext cx="4736455" cy="723900"/>
          </a:xfrm>
          <a:prstGeom prst="rect">
            <a:avLst/>
          </a:prstGeom>
          <a:solidFill>
            <a:srgbClr val="2E3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70470" y="4170759"/>
            <a:ext cx="419100" cy="4191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6620" y="4273492"/>
            <a:ext cx="186607" cy="21326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574655" y="2334220"/>
            <a:ext cx="6160144" cy="911869"/>
          </a:xfrm>
          <a:prstGeom prst="roundRect">
            <a:avLst>
              <a:gd name="adj" fmla="val 835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766941" y="2511325"/>
            <a:ext cx="342900" cy="342900"/>
          </a:xfrm>
          <a:prstGeom prst="ellipse">
            <a:avLst/>
          </a:prstGeom>
          <a:solidFill>
            <a:srgbClr val="42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70511" y="2622502"/>
            <a:ext cx="135462" cy="12041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574655" y="3375570"/>
            <a:ext cx="6160144" cy="911869"/>
          </a:xfrm>
          <a:prstGeom prst="roundRect">
            <a:avLst>
              <a:gd name="adj" fmla="val 835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766941" y="3552676"/>
            <a:ext cx="342900" cy="342900"/>
          </a:xfrm>
          <a:prstGeom prst="ellipse">
            <a:avLst/>
          </a:prstGeom>
          <a:solidFill>
            <a:srgbClr val="42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62044" y="3656327"/>
            <a:ext cx="152422" cy="13547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5574655" y="4416921"/>
            <a:ext cx="6160144" cy="911869"/>
          </a:xfrm>
          <a:prstGeom prst="roundRect">
            <a:avLst>
              <a:gd name="adj" fmla="val 835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766941" y="4594026"/>
            <a:ext cx="342900" cy="342900"/>
          </a:xfrm>
          <a:prstGeom prst="ellipse">
            <a:avLst/>
          </a:prstGeom>
          <a:solidFill>
            <a:srgbClr val="42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62044" y="4689159"/>
            <a:ext cx="152396" cy="15239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57188" y="500942"/>
            <a:ext cx="4857033" cy="4095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322" b="1" i="0">
                <a:solidFill>
                  <a:srgbClr val="425563"/>
                </a:solidFill>
                <a:latin typeface="Montserrat"/>
              </a:rPr>
              <a:t>¿Qué se propone construir?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88" y="973609"/>
            <a:ext cx="10401932" cy="266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18" b="1" i="0">
                <a:solidFill>
                  <a:srgbClr val="425563"/>
                </a:solidFill>
                <a:latin typeface="Open Sans"/>
              </a:rPr>
              <a:t>La solución es una aplicación web Full Stack que concentre todo el proceso en un único sistema accesible.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41939" y="2743726"/>
            <a:ext cx="772547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7" b="1" i="0">
                <a:solidFill>
                  <a:srgbClr val="FFFFFF"/>
                </a:solidFill>
                <a:latin typeface="Montserrat"/>
              </a:rPr>
              <a:t>Frontend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41939" y="2948955"/>
            <a:ext cx="2143815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33" b="0" i="0">
                <a:solidFill>
                  <a:srgbClr val="FFFFFF"/>
                </a:solidFill>
                <a:latin typeface="Open Sans"/>
              </a:rPr>
              <a:t>Interfaz web · Experiencia de usuario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04071" y="2820996"/>
            <a:ext cx="576277" cy="222879"/>
          </a:xfrm>
          <a:prstGeom prst="rect">
            <a:avLst/>
          </a:prstGeom>
          <a:solidFill>
            <a:srgbClr val="FFFFFF"/>
          </a:solidFill>
        </p:spPr>
        <p:txBody>
          <a:bodyPr wrap="none" lIns="99057" tIns="30479" rIns="99057" bIns="30479">
            <a:spAutoFit/>
          </a:bodyPr>
          <a:lstStyle/>
          <a:p>
            <a:pPr algn="l"/>
            <a:r>
              <a:rPr sz="818" b="1" i="0">
                <a:solidFill>
                  <a:srgbClr val="425563"/>
                </a:solidFill>
                <a:latin typeface="Open Sans"/>
              </a:rPr>
              <a:t>Capa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41939" y="3467608"/>
            <a:ext cx="739061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7" b="1" i="0">
                <a:solidFill>
                  <a:srgbClr val="FFFFFF"/>
                </a:solidFill>
                <a:latin typeface="Montserrat"/>
              </a:rPr>
              <a:t>Backend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41939" y="3672837"/>
            <a:ext cx="1641384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33" b="0" i="0">
                <a:solidFill>
                  <a:srgbClr val="FFFFFF"/>
                </a:solidFill>
                <a:latin typeface="Open Sans"/>
              </a:rPr>
              <a:t>Lógica de negocio · API REST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04071" y="3544878"/>
            <a:ext cx="576277" cy="222879"/>
          </a:xfrm>
          <a:prstGeom prst="rect">
            <a:avLst/>
          </a:prstGeom>
          <a:solidFill>
            <a:srgbClr val="FFFFFF"/>
          </a:solidFill>
        </p:spPr>
        <p:txBody>
          <a:bodyPr wrap="none" lIns="99057" tIns="30479" rIns="99057" bIns="30479">
            <a:spAutoFit/>
          </a:bodyPr>
          <a:lstStyle/>
          <a:p>
            <a:pPr algn="l"/>
            <a:r>
              <a:rPr sz="818" b="1" i="0">
                <a:solidFill>
                  <a:srgbClr val="425563"/>
                </a:solidFill>
                <a:latin typeface="Open Sans"/>
              </a:rPr>
              <a:t>Capa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41939" y="4191490"/>
            <a:ext cx="1195655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7" b="1" i="0">
                <a:solidFill>
                  <a:srgbClr val="FFFFFF"/>
                </a:solidFill>
                <a:latin typeface="Montserrat"/>
              </a:rPr>
              <a:t>Base de Datos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41939" y="4396719"/>
            <a:ext cx="1615191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33" b="0" i="0">
                <a:solidFill>
                  <a:srgbClr val="FFFFFF"/>
                </a:solidFill>
                <a:latin typeface="Open Sans"/>
              </a:rPr>
              <a:t>Persistencia de información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04071" y="4268760"/>
            <a:ext cx="576277" cy="222879"/>
          </a:xfrm>
          <a:prstGeom prst="rect">
            <a:avLst/>
          </a:prstGeom>
          <a:solidFill>
            <a:srgbClr val="FFFFFF"/>
          </a:solidFill>
        </p:spPr>
        <p:txBody>
          <a:bodyPr wrap="none" lIns="99057" tIns="30479" rIns="99057" bIns="30479">
            <a:spAutoFit/>
          </a:bodyPr>
          <a:lstStyle/>
          <a:p>
            <a:pPr algn="l"/>
            <a:r>
              <a:rPr sz="818" b="1" i="0">
                <a:solidFill>
                  <a:srgbClr val="425563"/>
                </a:solidFill>
                <a:latin typeface="Open Sans"/>
              </a:rPr>
              <a:t>Capa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0866" y="4848669"/>
            <a:ext cx="2608981" cy="243833"/>
          </a:xfrm>
          <a:prstGeom prst="rect">
            <a:avLst/>
          </a:prstGeom>
          <a:solidFill>
            <a:srgbClr val="FE5000"/>
          </a:solidFill>
        </p:spPr>
        <p:txBody>
          <a:bodyPr wrap="none" lIns="182875" tIns="45718" rIns="182875" bIns="45718">
            <a:spAutoFit/>
          </a:bodyPr>
          <a:lstStyle/>
          <a:p>
            <a:pPr algn="l"/>
            <a:r>
              <a:rPr sz="896" b="1" i="0">
                <a:solidFill>
                  <a:srgbClr val="272727"/>
                </a:solidFill>
                <a:latin typeface="Montserrat"/>
              </a:rPr>
              <a:t>MVP · Producto Mínimo Viable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46755" y="2486558"/>
            <a:ext cx="2362140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2" b="1" i="0">
                <a:solidFill>
                  <a:srgbClr val="425563"/>
                </a:solidFill>
                <a:latin typeface="Montserrat"/>
              </a:rPr>
              <a:t>Sistema centralizado Full Stack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46755" y="2700121"/>
            <a:ext cx="4793187" cy="315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dirty="0">
                <a:solidFill>
                  <a:srgbClr val="2E3D48"/>
                </a:solidFill>
                <a:latin typeface="Open Sans"/>
              </a:rPr>
              <a:t>Un MVP de </a:t>
            </a:r>
            <a:r>
              <a:rPr sz="1000" b="0" i="0" dirty="0" err="1">
                <a:solidFill>
                  <a:srgbClr val="2E3D48"/>
                </a:solidFill>
                <a:latin typeface="Open Sans"/>
              </a:rPr>
              <a:t>aplicación</a:t>
            </a:r>
            <a:r>
              <a:rPr sz="1000" b="0" i="0" dirty="0">
                <a:solidFill>
                  <a:srgbClr val="2E3D48"/>
                </a:solidFill>
                <a:latin typeface="Open Sans"/>
              </a:rPr>
              <a:t> web </a:t>
            </a:r>
            <a:r>
              <a:rPr sz="1000" b="0" i="0" dirty="0" err="1">
                <a:solidFill>
                  <a:srgbClr val="2E3D48"/>
                </a:solidFill>
                <a:latin typeface="Open Sans"/>
              </a:rPr>
              <a:t>que</a:t>
            </a:r>
            <a:r>
              <a:rPr sz="1000" b="0" i="0" dirty="0">
                <a:solidFill>
                  <a:srgbClr val="2E3D48"/>
                </a:solidFill>
                <a:latin typeface="Open Sans"/>
              </a:rPr>
              <a:t> </a:t>
            </a:r>
            <a:r>
              <a:rPr sz="1000" b="0" i="0" dirty="0" err="1">
                <a:solidFill>
                  <a:srgbClr val="2E3D48"/>
                </a:solidFill>
                <a:latin typeface="Open Sans"/>
              </a:rPr>
              <a:t>permite</a:t>
            </a:r>
            <a:r>
              <a:rPr sz="1000" b="0" i="0" dirty="0">
                <a:solidFill>
                  <a:srgbClr val="2E3D48"/>
                </a:solidFill>
                <a:latin typeface="Open Sans"/>
              </a:rPr>
              <a:t> </a:t>
            </a:r>
            <a:r>
              <a:rPr sz="1000" b="0" i="0" dirty="0" err="1">
                <a:solidFill>
                  <a:srgbClr val="2E3D48"/>
                </a:solidFill>
                <a:latin typeface="Open Sans"/>
              </a:rPr>
              <a:t>centralizar</a:t>
            </a:r>
            <a:r>
              <a:rPr sz="1000" b="0" i="0" dirty="0">
                <a:solidFill>
                  <a:srgbClr val="2E3D48"/>
                </a:solidFill>
                <a:latin typeface="Open Sans"/>
              </a:rPr>
              <a:t> </a:t>
            </a:r>
            <a:r>
              <a:rPr sz="1000" b="0" i="0" dirty="0" err="1">
                <a:solidFill>
                  <a:srgbClr val="2E3D48"/>
                </a:solidFill>
                <a:latin typeface="Open Sans"/>
              </a:rPr>
              <a:t>candidatos</a:t>
            </a:r>
            <a:r>
              <a:rPr sz="1000" b="0" i="0" dirty="0">
                <a:solidFill>
                  <a:srgbClr val="2E3D48"/>
                </a:solidFill>
                <a:latin typeface="Open Sans"/>
              </a:rPr>
              <a:t>, solicitudes y </a:t>
            </a:r>
            <a:r>
              <a:rPr sz="1000" b="0" i="0" dirty="0" err="1">
                <a:solidFill>
                  <a:srgbClr val="2E3D48"/>
                </a:solidFill>
                <a:latin typeface="Open Sans"/>
              </a:rPr>
              <a:t>evaluaciones</a:t>
            </a:r>
            <a:r>
              <a:rPr sz="1000" b="0" i="0" dirty="0">
                <a:solidFill>
                  <a:srgbClr val="2E3D48"/>
                </a:solidFill>
                <a:latin typeface="Open Sans"/>
              </a:rPr>
              <a:t> </a:t>
            </a:r>
            <a:r>
              <a:rPr sz="1000" b="0" i="0" dirty="0" err="1">
                <a:solidFill>
                  <a:srgbClr val="2E3D48"/>
                </a:solidFill>
                <a:latin typeface="Open Sans"/>
              </a:rPr>
              <a:t>psicolaborales</a:t>
            </a:r>
            <a:r>
              <a:rPr sz="1000" b="0" i="0" dirty="0">
                <a:solidFill>
                  <a:srgbClr val="2E3D48"/>
                </a:solidFill>
                <a:latin typeface="Open Sans"/>
              </a:rPr>
              <a:t> </a:t>
            </a:r>
            <a:r>
              <a:rPr sz="1000" b="0" i="0" dirty="0" err="1">
                <a:solidFill>
                  <a:srgbClr val="2E3D48"/>
                </a:solidFill>
                <a:latin typeface="Open Sans"/>
              </a:rPr>
              <a:t>en</a:t>
            </a:r>
            <a:r>
              <a:rPr sz="1000" b="0" i="0" dirty="0">
                <a:solidFill>
                  <a:srgbClr val="2E3D48"/>
                </a:solidFill>
                <a:latin typeface="Open Sans"/>
              </a:rPr>
              <a:t> un </a:t>
            </a:r>
            <a:r>
              <a:rPr sz="1000" b="0" i="0" dirty="0" err="1">
                <a:solidFill>
                  <a:srgbClr val="2E3D48"/>
                </a:solidFill>
                <a:latin typeface="Open Sans"/>
              </a:rPr>
              <a:t>único</a:t>
            </a:r>
            <a:r>
              <a:rPr sz="1000" b="0" i="0" dirty="0">
                <a:solidFill>
                  <a:srgbClr val="2E3D48"/>
                </a:solidFill>
                <a:latin typeface="Open Sans"/>
              </a:rPr>
              <a:t> </a:t>
            </a:r>
            <a:r>
              <a:rPr sz="1000" b="0" i="0" dirty="0" err="1">
                <a:solidFill>
                  <a:srgbClr val="2E3D48"/>
                </a:solidFill>
                <a:latin typeface="Open Sans"/>
              </a:rPr>
              <a:t>lugar</a:t>
            </a:r>
            <a:r>
              <a:rPr sz="1000" b="0" i="0" dirty="0">
                <a:solidFill>
                  <a:srgbClr val="2E3D48"/>
                </a:solidFill>
                <a:latin typeface="Open Sans"/>
              </a:rPr>
              <a:t>.</a:t>
            </a:r>
            <a:r>
              <a:rPr sz="900" b="0" i="0" dirty="0">
                <a:solidFill>
                  <a:srgbClr val="228477"/>
                </a:solidFill>
                <a:latin typeface="Open Sans"/>
              </a:rPr>
              <a:t> </a:t>
            </a:r>
            <a:endParaRPr lang="en-US" sz="900" b="0" i="0" dirty="0">
              <a:solidFill>
                <a:srgbClr val="228477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246755" y="3527882"/>
            <a:ext cx="2259303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2" b="1" i="0">
                <a:solidFill>
                  <a:srgbClr val="425563"/>
                </a:solidFill>
                <a:latin typeface="Montserrat"/>
              </a:rPr>
              <a:t>Tres componentes integrados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6755" y="3741445"/>
            <a:ext cx="4621444" cy="3729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25" b="0" i="0">
                <a:solidFill>
                  <a:srgbClr val="2E3D48"/>
                </a:solidFill>
                <a:latin typeface="Open Sans"/>
              </a:rPr>
              <a:t>Interfaz web (Frontend) + lógica de negocio (Backend) + base de datos — trabajando juntos como una sola solución.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6755" y="4569206"/>
            <a:ext cx="1912988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2" b="1" i="0">
                <a:solidFill>
                  <a:srgbClr val="425563"/>
                </a:solidFill>
                <a:latin typeface="Montserrat"/>
              </a:rPr>
              <a:t>Sin licencias corporativas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6755" y="4782769"/>
            <a:ext cx="4934868" cy="315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dirty="0" err="1">
                <a:solidFill>
                  <a:srgbClr val="2E3D48"/>
                </a:solidFill>
                <a:latin typeface="Open Sans"/>
              </a:rPr>
              <a:t>Desarrollado</a:t>
            </a:r>
            <a:r>
              <a:rPr sz="1000" b="0" i="0" dirty="0">
                <a:solidFill>
                  <a:srgbClr val="2E3D48"/>
                </a:solidFill>
                <a:latin typeface="Open Sans"/>
              </a:rPr>
              <a:t> con </a:t>
            </a:r>
            <a:r>
              <a:rPr sz="1000" b="0" i="0" dirty="0" err="1">
                <a:solidFill>
                  <a:srgbClr val="2E3D48"/>
                </a:solidFill>
                <a:latin typeface="Open Sans"/>
              </a:rPr>
              <a:t>tecnologías</a:t>
            </a:r>
            <a:r>
              <a:rPr sz="1000" b="0" i="0" dirty="0">
                <a:solidFill>
                  <a:srgbClr val="2E3D48"/>
                </a:solidFill>
                <a:latin typeface="Open Sans"/>
              </a:rPr>
              <a:t> </a:t>
            </a:r>
            <a:r>
              <a:rPr sz="1000" b="0" i="0" dirty="0" err="1">
                <a:solidFill>
                  <a:srgbClr val="2E3D48"/>
                </a:solidFill>
                <a:latin typeface="Open Sans"/>
              </a:rPr>
              <a:t>accesibles</a:t>
            </a:r>
            <a:r>
              <a:rPr sz="1000" b="0" i="0" dirty="0">
                <a:solidFill>
                  <a:srgbClr val="2E3D48"/>
                </a:solidFill>
                <a:latin typeface="Open Sans"/>
              </a:rPr>
              <a:t> y </a:t>
            </a:r>
            <a:r>
              <a:rPr sz="1000" b="0" i="0" dirty="0" err="1">
                <a:solidFill>
                  <a:srgbClr val="2E3D48"/>
                </a:solidFill>
                <a:latin typeface="Open Sans"/>
              </a:rPr>
              <a:t>servicios</a:t>
            </a:r>
            <a:r>
              <a:rPr sz="1000" b="0" i="0" dirty="0">
                <a:solidFill>
                  <a:srgbClr val="2E3D48"/>
                </a:solidFill>
                <a:latin typeface="Open Sans"/>
              </a:rPr>
              <a:t> </a:t>
            </a:r>
            <a:r>
              <a:rPr sz="1000" b="0" i="0" dirty="0" err="1">
                <a:solidFill>
                  <a:srgbClr val="2E3D48"/>
                </a:solidFill>
                <a:latin typeface="Open Sans"/>
              </a:rPr>
              <a:t>gratuitos</a:t>
            </a:r>
            <a:r>
              <a:rPr sz="1000" b="0" i="0" dirty="0">
                <a:solidFill>
                  <a:srgbClr val="2E3D48"/>
                </a:solidFill>
                <a:latin typeface="Open Sans"/>
              </a:rPr>
              <a:t>, sin </a:t>
            </a:r>
            <a:r>
              <a:rPr sz="1000" b="0" i="0" dirty="0" err="1">
                <a:solidFill>
                  <a:srgbClr val="2E3D48"/>
                </a:solidFill>
                <a:latin typeface="Open Sans"/>
              </a:rPr>
              <a:t>depender</a:t>
            </a:r>
            <a:r>
              <a:rPr sz="1000" b="0" i="0" dirty="0">
                <a:solidFill>
                  <a:srgbClr val="2E3D48"/>
                </a:solidFill>
                <a:latin typeface="Open Sans"/>
              </a:rPr>
              <a:t> de </a:t>
            </a:r>
            <a:r>
              <a:rPr sz="1000" b="0" i="0" dirty="0" err="1">
                <a:solidFill>
                  <a:srgbClr val="2E3D48"/>
                </a:solidFill>
                <a:latin typeface="Open Sans"/>
              </a:rPr>
              <a:t>licencias</a:t>
            </a:r>
            <a:r>
              <a:rPr sz="1000" b="0" i="0" dirty="0">
                <a:solidFill>
                  <a:srgbClr val="2E3D48"/>
                </a:solidFill>
                <a:latin typeface="Open Sans"/>
              </a:rPr>
              <a:t> </a:t>
            </a:r>
            <a:r>
              <a:rPr sz="1000" b="0" i="0" dirty="0" err="1">
                <a:solidFill>
                  <a:srgbClr val="2E3D48"/>
                </a:solidFill>
                <a:latin typeface="Open Sans"/>
              </a:rPr>
              <a:t>corporativas</a:t>
            </a:r>
            <a:r>
              <a:rPr sz="1000" b="0" i="0" dirty="0">
                <a:solidFill>
                  <a:srgbClr val="2E3D48"/>
                </a:solidFill>
                <a:latin typeface="Open Sans"/>
              </a:rPr>
              <a:t>.</a:t>
            </a:r>
            <a:r>
              <a:rPr sz="900" b="0" i="0" dirty="0">
                <a:solidFill>
                  <a:srgbClr val="228477"/>
                </a:solidFill>
                <a:latin typeface="Open Sans"/>
              </a:rPr>
              <a:t> </a:t>
            </a:r>
            <a:endParaRPr lang="en-US" sz="900" b="0" i="0" dirty="0">
              <a:solidFill>
                <a:srgbClr val="228477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789669" y="6381590"/>
            <a:ext cx="1944837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11" b="0" i="0">
                <a:solidFill>
                  <a:srgbClr val="6E6259"/>
                </a:solidFill>
                <a:latin typeface="Open Sans"/>
              </a:rPr>
              <a:t>DUOC UC · Full Stack II · AquaChile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81000"/>
            <a:ext cx="495299" cy="38100"/>
          </a:xfrm>
          <a:prstGeom prst="roundRect">
            <a:avLst>
              <a:gd name="adj" fmla="val 50000"/>
            </a:avLst>
          </a:prstGeom>
          <a:solidFill>
            <a:srgbClr val="FE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1532929"/>
            <a:ext cx="5486400" cy="4648795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71525" y="1847254"/>
            <a:ext cx="571500" cy="571500"/>
          </a:xfrm>
          <a:prstGeom prst="ellipse">
            <a:avLst/>
          </a:prstGeom>
          <a:solidFill>
            <a:srgbClr val="42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0597" y="2011064"/>
            <a:ext cx="213302" cy="24377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1525" y="3281511"/>
            <a:ext cx="4857750" cy="9525"/>
          </a:xfrm>
          <a:prstGeom prst="rect">
            <a:avLst/>
          </a:prstGeom>
          <a:solidFill>
            <a:srgbClr val="D7D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48400" y="1532929"/>
            <a:ext cx="5486400" cy="4648795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562725" y="1847254"/>
            <a:ext cx="571500" cy="571500"/>
          </a:xfrm>
          <a:prstGeom prst="ellipse">
            <a:avLst/>
          </a:prstGeom>
          <a:solidFill>
            <a:srgbClr val="1A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56888" y="2011064"/>
            <a:ext cx="182830" cy="24377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62725" y="3281511"/>
            <a:ext cx="4857750" cy="9525"/>
          </a:xfrm>
          <a:prstGeom prst="rect">
            <a:avLst/>
          </a:prstGeom>
          <a:solidFill>
            <a:srgbClr val="D7D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188" y="523861"/>
            <a:ext cx="4618765" cy="4095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322" b="1" i="0">
                <a:solidFill>
                  <a:srgbClr val="425563"/>
                </a:solidFill>
                <a:latin typeface="Montserrat"/>
              </a:rPr>
              <a:t>¿Quiénes usan el sistema?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88" y="988938"/>
            <a:ext cx="10333324" cy="266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18" b="1" i="0">
                <a:solidFill>
                  <a:srgbClr val="425563"/>
                </a:solidFill>
                <a:latin typeface="Open Sans"/>
              </a:rPr>
              <a:t>El sistema está diseñado para dos perfiles de usuario con responsabilidades distintas dentro del proceso.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505" y="2601450"/>
            <a:ext cx="596190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27" b="1" i="0">
                <a:solidFill>
                  <a:srgbClr val="D64300"/>
                </a:solidFill>
                <a:latin typeface="Open Sans"/>
              </a:rPr>
              <a:t>Perfil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505" y="2843290"/>
            <a:ext cx="3166090" cy="27621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83" b="1" i="0">
                <a:solidFill>
                  <a:srgbClr val="425563"/>
                </a:solidFill>
                <a:latin typeface="Montserrat"/>
              </a:rPr>
              <a:t>Analista de Reclutamiento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505" y="3452874"/>
            <a:ext cx="4228845" cy="3856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 dirty="0" err="1">
                <a:solidFill>
                  <a:srgbClr val="2E3D48"/>
                </a:solidFill>
                <a:latin typeface="Open Sans"/>
              </a:rPr>
              <a:t>Registra</a:t>
            </a:r>
            <a:r>
              <a:rPr sz="1250" b="0" i="0" dirty="0">
                <a:solidFill>
                  <a:srgbClr val="2E3D48"/>
                </a:solidFill>
                <a:latin typeface="Open Sans"/>
              </a:rPr>
              <a:t> </a:t>
            </a:r>
            <a:r>
              <a:rPr sz="1250" b="0" i="0" dirty="0" err="1">
                <a:solidFill>
                  <a:srgbClr val="2E3D48"/>
                </a:solidFill>
                <a:latin typeface="Open Sans"/>
              </a:rPr>
              <a:t>candidatos</a:t>
            </a:r>
            <a:r>
              <a:rPr sz="1250" b="0" i="0" dirty="0">
                <a:solidFill>
                  <a:srgbClr val="2E3D48"/>
                </a:solidFill>
                <a:latin typeface="Open Sans"/>
              </a:rPr>
              <a:t> y genera solicitudes de </a:t>
            </a:r>
            <a:r>
              <a:rPr sz="1250" b="0" i="0" dirty="0" err="1">
                <a:solidFill>
                  <a:srgbClr val="2E3D48"/>
                </a:solidFill>
                <a:latin typeface="Open Sans"/>
              </a:rPr>
              <a:t>evaluación</a:t>
            </a:r>
            <a:r>
              <a:rPr sz="1250" b="0" i="0" dirty="0">
                <a:solidFill>
                  <a:srgbClr val="2E3D48"/>
                </a:solidFill>
                <a:latin typeface="Open Sans"/>
              </a:rPr>
              <a:t> </a:t>
            </a:r>
            <a:r>
              <a:rPr sz="1250" b="0" i="0" dirty="0" err="1">
                <a:solidFill>
                  <a:srgbClr val="2E3D48"/>
                </a:solidFill>
                <a:latin typeface="Open Sans"/>
              </a:rPr>
              <a:t>psicolaboral</a:t>
            </a:r>
            <a:r>
              <a:rPr sz="1250" b="0" i="0" dirty="0">
                <a:solidFill>
                  <a:srgbClr val="2E3D48"/>
                </a:solidFill>
                <a:latin typeface="Open Sans"/>
              </a:rPr>
              <a:t> para un cargo </a:t>
            </a:r>
            <a:r>
              <a:rPr sz="1250" b="0" i="0" dirty="0" err="1">
                <a:solidFill>
                  <a:srgbClr val="2E3D48"/>
                </a:solidFill>
                <a:latin typeface="Open Sans"/>
              </a:rPr>
              <a:t>específico</a:t>
            </a:r>
            <a:r>
              <a:rPr sz="1250" b="0" i="0" dirty="0">
                <a:solidFill>
                  <a:srgbClr val="2E3D48"/>
                </a:solidFill>
                <a:latin typeface="Open Sans"/>
              </a:rPr>
              <a:t>.</a:t>
            </a:r>
            <a:r>
              <a:rPr sz="950" b="0" i="0" dirty="0">
                <a:solidFill>
                  <a:srgbClr val="228477"/>
                </a:solidFill>
                <a:latin typeface="Open Sans"/>
              </a:rPr>
              <a:t> </a:t>
            </a:r>
            <a:endParaRPr lang="en-US" sz="950" b="0" i="0" dirty="0">
              <a:solidFill>
                <a:srgbClr val="228477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1386" y="5657708"/>
            <a:ext cx="1500090" cy="247643"/>
          </a:xfrm>
          <a:prstGeom prst="rect">
            <a:avLst/>
          </a:prstGeom>
          <a:solidFill>
            <a:srgbClr val="EEE9E4"/>
          </a:solidFill>
        </p:spPr>
        <p:txBody>
          <a:bodyPr wrap="none" lIns="106677" tIns="38099" rIns="106677" bIns="38099">
            <a:spAutoFit/>
          </a:bodyPr>
          <a:lstStyle/>
          <a:p>
            <a:pPr algn="l"/>
            <a:r>
              <a:rPr sz="894" b="1" i="0">
                <a:solidFill>
                  <a:srgbClr val="425563"/>
                </a:solidFill>
                <a:latin typeface="Open Sans"/>
              </a:rPr>
              <a:t>Registrar candidatos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47437" y="5657708"/>
            <a:ext cx="1421213" cy="247643"/>
          </a:xfrm>
          <a:prstGeom prst="rect">
            <a:avLst/>
          </a:prstGeom>
          <a:solidFill>
            <a:srgbClr val="EEE9E4"/>
          </a:solidFill>
        </p:spPr>
        <p:txBody>
          <a:bodyPr wrap="none" lIns="106677" tIns="38099" rIns="106677" bIns="38099">
            <a:spAutoFit/>
          </a:bodyPr>
          <a:lstStyle/>
          <a:p>
            <a:pPr algn="l"/>
            <a:r>
              <a:rPr sz="894" b="1" i="0">
                <a:solidFill>
                  <a:srgbClr val="425563"/>
                </a:solidFill>
                <a:latin typeface="Open Sans"/>
              </a:rPr>
              <a:t>Generar solicitudes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4610" y="5657708"/>
            <a:ext cx="1059867" cy="247643"/>
          </a:xfrm>
          <a:prstGeom prst="rect">
            <a:avLst/>
          </a:prstGeom>
          <a:solidFill>
            <a:srgbClr val="EEE9E4"/>
          </a:solidFill>
        </p:spPr>
        <p:txBody>
          <a:bodyPr wrap="none" lIns="106677" tIns="38099" rIns="106677" bIns="38099">
            <a:spAutoFit/>
          </a:bodyPr>
          <a:lstStyle/>
          <a:p>
            <a:pPr algn="l"/>
            <a:r>
              <a:rPr sz="894" b="1" i="0">
                <a:solidFill>
                  <a:srgbClr val="425563"/>
                </a:solidFill>
                <a:latin typeface="Open Sans"/>
              </a:rPr>
              <a:t>Asignar cargo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2560" y="2601450"/>
            <a:ext cx="596190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27" b="1" i="0">
                <a:solidFill>
                  <a:srgbClr val="D64300"/>
                </a:solidFill>
                <a:latin typeface="Open Sans"/>
              </a:rPr>
              <a:t>Perfil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2560" y="2843290"/>
            <a:ext cx="2614100" cy="27621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83" b="1" i="0">
                <a:solidFill>
                  <a:srgbClr val="425563"/>
                </a:solidFill>
                <a:latin typeface="Montserrat"/>
              </a:rPr>
              <a:t>Profesional Evaluador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2560" y="3452874"/>
            <a:ext cx="4481698" cy="3856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 dirty="0">
                <a:solidFill>
                  <a:srgbClr val="2E3D48"/>
                </a:solidFill>
                <a:latin typeface="Open Sans"/>
              </a:rPr>
              <a:t>Consulta las solicitudes </a:t>
            </a:r>
            <a:r>
              <a:rPr sz="1250" b="0" i="0" dirty="0" err="1">
                <a:solidFill>
                  <a:srgbClr val="2E3D48"/>
                </a:solidFill>
                <a:latin typeface="Open Sans"/>
              </a:rPr>
              <a:t>asignadas</a:t>
            </a:r>
            <a:r>
              <a:rPr sz="1250" b="0" i="0" dirty="0">
                <a:solidFill>
                  <a:srgbClr val="2E3D48"/>
                </a:solidFill>
                <a:latin typeface="Open Sans"/>
              </a:rPr>
              <a:t>, </a:t>
            </a:r>
            <a:r>
              <a:rPr sz="1250" b="0" i="0" dirty="0" err="1">
                <a:solidFill>
                  <a:srgbClr val="2E3D48"/>
                </a:solidFill>
                <a:latin typeface="Open Sans"/>
              </a:rPr>
              <a:t>revisa</a:t>
            </a:r>
            <a:r>
              <a:rPr sz="1250" b="0" i="0" dirty="0">
                <a:solidFill>
                  <a:srgbClr val="2E3D48"/>
                </a:solidFill>
                <a:latin typeface="Open Sans"/>
              </a:rPr>
              <a:t> </a:t>
            </a:r>
            <a:r>
              <a:rPr sz="1250" b="0" i="0" dirty="0" err="1">
                <a:solidFill>
                  <a:srgbClr val="2E3D48"/>
                </a:solidFill>
                <a:latin typeface="Open Sans"/>
              </a:rPr>
              <a:t>antecedentes</a:t>
            </a:r>
            <a:r>
              <a:rPr sz="1250" b="0" i="0" dirty="0">
                <a:solidFill>
                  <a:srgbClr val="2E3D48"/>
                </a:solidFill>
                <a:latin typeface="Open Sans"/>
              </a:rPr>
              <a:t>, </a:t>
            </a:r>
            <a:r>
              <a:rPr sz="1250" b="0" i="0" dirty="0" err="1">
                <a:solidFill>
                  <a:srgbClr val="2E3D48"/>
                </a:solidFill>
                <a:latin typeface="Open Sans"/>
              </a:rPr>
              <a:t>registra</a:t>
            </a:r>
            <a:r>
              <a:rPr sz="1250" b="0" i="0" dirty="0">
                <a:solidFill>
                  <a:srgbClr val="2E3D48"/>
                </a:solidFill>
                <a:latin typeface="Open Sans"/>
              </a:rPr>
              <a:t> la </a:t>
            </a:r>
            <a:r>
              <a:rPr sz="1250" b="0" i="0" dirty="0" err="1">
                <a:solidFill>
                  <a:srgbClr val="2E3D48"/>
                </a:solidFill>
                <a:latin typeface="Open Sans"/>
              </a:rPr>
              <a:t>evaluación</a:t>
            </a:r>
            <a:r>
              <a:rPr sz="1250" b="0" i="0" dirty="0">
                <a:solidFill>
                  <a:srgbClr val="2E3D48"/>
                </a:solidFill>
                <a:latin typeface="Open Sans"/>
              </a:rPr>
              <a:t> y </a:t>
            </a:r>
            <a:r>
              <a:rPr sz="1250" b="0" i="0" dirty="0" err="1">
                <a:solidFill>
                  <a:srgbClr val="2E3D48"/>
                </a:solidFill>
                <a:latin typeface="Open Sans"/>
              </a:rPr>
              <a:t>actualiza</a:t>
            </a:r>
            <a:r>
              <a:rPr sz="1250" b="0" i="0" dirty="0">
                <a:solidFill>
                  <a:srgbClr val="2E3D48"/>
                </a:solidFill>
                <a:latin typeface="Open Sans"/>
              </a:rPr>
              <a:t> el </a:t>
            </a:r>
            <a:r>
              <a:rPr sz="1250" b="0" i="0" dirty="0" err="1">
                <a:solidFill>
                  <a:srgbClr val="2E3D48"/>
                </a:solidFill>
                <a:latin typeface="Open Sans"/>
              </a:rPr>
              <a:t>estado</a:t>
            </a:r>
            <a:r>
              <a:rPr sz="1250" b="0" i="0" dirty="0">
                <a:solidFill>
                  <a:srgbClr val="2E3D48"/>
                </a:solidFill>
                <a:latin typeface="Open Sans"/>
              </a:rPr>
              <a:t> del </a:t>
            </a:r>
            <a:r>
              <a:rPr sz="1250" b="0" i="0" dirty="0" err="1">
                <a:solidFill>
                  <a:srgbClr val="2E3D48"/>
                </a:solidFill>
                <a:latin typeface="Open Sans"/>
              </a:rPr>
              <a:t>proceso</a:t>
            </a:r>
            <a:r>
              <a:rPr sz="1250" b="0" i="0" dirty="0">
                <a:solidFill>
                  <a:srgbClr val="2E3D48"/>
                </a:solidFill>
                <a:latin typeface="Open Sans"/>
              </a:rPr>
              <a:t>.</a:t>
            </a:r>
            <a:r>
              <a:rPr sz="950" b="0" i="0" dirty="0">
                <a:solidFill>
                  <a:srgbClr val="228477"/>
                </a:solidFill>
                <a:latin typeface="Open Sans"/>
              </a:rPr>
              <a:t> </a:t>
            </a:r>
            <a:endParaRPr lang="en-US" sz="950" b="0" i="0" dirty="0">
              <a:solidFill>
                <a:srgbClr val="228477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562441" y="5657708"/>
            <a:ext cx="1522414" cy="247643"/>
          </a:xfrm>
          <a:prstGeom prst="rect">
            <a:avLst/>
          </a:prstGeom>
          <a:solidFill>
            <a:srgbClr val="EEE9E4"/>
          </a:solidFill>
        </p:spPr>
        <p:txBody>
          <a:bodyPr wrap="none" lIns="106677" tIns="38099" rIns="106677" bIns="38099">
            <a:spAutoFit/>
          </a:bodyPr>
          <a:lstStyle/>
          <a:p>
            <a:pPr algn="l"/>
            <a:r>
              <a:rPr sz="894" b="1" i="0">
                <a:solidFill>
                  <a:srgbClr val="425563"/>
                </a:solidFill>
                <a:latin typeface="Open Sans"/>
              </a:rPr>
              <a:t>Consultar solicitudes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0815" y="5657708"/>
            <a:ext cx="1488333" cy="247643"/>
          </a:xfrm>
          <a:prstGeom prst="rect">
            <a:avLst/>
          </a:prstGeom>
          <a:solidFill>
            <a:srgbClr val="EEE9E4"/>
          </a:solidFill>
        </p:spPr>
        <p:txBody>
          <a:bodyPr wrap="none" lIns="106677" tIns="38099" rIns="106677" bIns="38099">
            <a:spAutoFit/>
          </a:bodyPr>
          <a:lstStyle/>
          <a:p>
            <a:pPr algn="l"/>
            <a:r>
              <a:rPr sz="894" b="1" i="0">
                <a:solidFill>
                  <a:srgbClr val="425563"/>
                </a:solidFill>
                <a:latin typeface="Open Sans"/>
              </a:rPr>
              <a:t>Registrar evaluación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25109" y="5657708"/>
            <a:ext cx="1298879" cy="247643"/>
          </a:xfrm>
          <a:prstGeom prst="rect">
            <a:avLst/>
          </a:prstGeom>
          <a:solidFill>
            <a:srgbClr val="EEE9E4"/>
          </a:solidFill>
        </p:spPr>
        <p:txBody>
          <a:bodyPr wrap="none" lIns="106677" tIns="38099" rIns="106677" bIns="38099">
            <a:spAutoFit/>
          </a:bodyPr>
          <a:lstStyle/>
          <a:p>
            <a:pPr algn="l"/>
            <a:r>
              <a:rPr sz="894" b="1" i="0">
                <a:solidFill>
                  <a:srgbClr val="425563"/>
                </a:solidFill>
                <a:latin typeface="Open Sans"/>
              </a:rPr>
              <a:t>Actualizar estado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188" y="6381590"/>
            <a:ext cx="1608940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11" b="0" i="0">
                <a:solidFill>
                  <a:srgbClr val="6E6259"/>
                </a:solidFill>
                <a:latin typeface="Open Sans"/>
              </a:rPr>
              <a:t>DUOC UC · Septiembre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87011" y="6381590"/>
            <a:ext cx="247494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11" b="0" i="0">
                <a:solidFill>
                  <a:srgbClr val="6E6259"/>
                </a:solidFill>
                <a:latin typeface="Open Sans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35160"/>
            <a:ext cx="457200" cy="38100"/>
          </a:xfrm>
          <a:prstGeom prst="roundRect">
            <a:avLst>
              <a:gd name="adj" fmla="val 50000"/>
            </a:avLst>
          </a:prstGeom>
          <a:solidFill>
            <a:srgbClr val="FE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1325880"/>
            <a:ext cx="3546043" cy="2331720"/>
          </a:xfrm>
          <a:prstGeom prst="roundRect">
            <a:avLst>
              <a:gd name="adj" fmla="val 499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" name="Rounded Rectangle 3"/>
          <p:cNvSpPr/>
          <p:nvPr/>
        </p:nvSpPr>
        <p:spPr>
          <a:xfrm>
            <a:off x="634594" y="1503274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42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1285" y="1619254"/>
            <a:ext cx="167576" cy="14895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323283" y="1325880"/>
            <a:ext cx="3546043" cy="2331720"/>
          </a:xfrm>
          <a:prstGeom prst="roundRect">
            <a:avLst>
              <a:gd name="adj" fmla="val 499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" name="Rounded Rectangle 6"/>
          <p:cNvSpPr/>
          <p:nvPr/>
        </p:nvSpPr>
        <p:spPr>
          <a:xfrm>
            <a:off x="4500677" y="1503274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42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17800" y="1609946"/>
            <a:ext cx="146629" cy="16757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189366" y="1325880"/>
            <a:ext cx="3546043" cy="2331720"/>
          </a:xfrm>
          <a:prstGeom prst="roundRect">
            <a:avLst>
              <a:gd name="adj" fmla="val 499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" name="Rounded Rectangle 9"/>
          <p:cNvSpPr/>
          <p:nvPr/>
        </p:nvSpPr>
        <p:spPr>
          <a:xfrm>
            <a:off x="8366760" y="1503274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42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73368" y="1609946"/>
            <a:ext cx="167568" cy="1676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57200" y="3840480"/>
            <a:ext cx="3546043" cy="2331720"/>
          </a:xfrm>
          <a:prstGeom prst="roundRect">
            <a:avLst>
              <a:gd name="adj" fmla="val 263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3" name="Rounded Rectangle 12"/>
          <p:cNvSpPr/>
          <p:nvPr/>
        </p:nvSpPr>
        <p:spPr>
          <a:xfrm>
            <a:off x="634594" y="4017874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42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6397" y="4145493"/>
            <a:ext cx="157102" cy="125682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4323283" y="3840480"/>
            <a:ext cx="3546043" cy="2331720"/>
          </a:xfrm>
          <a:prstGeom prst="roundRect">
            <a:avLst>
              <a:gd name="adj" fmla="val 499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9" name="Rounded Rectangle 18"/>
          <p:cNvSpPr/>
          <p:nvPr/>
        </p:nvSpPr>
        <p:spPr>
          <a:xfrm>
            <a:off x="4500677" y="4017874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42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07166" y="4126271"/>
            <a:ext cx="165849" cy="165849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8189366" y="3840480"/>
            <a:ext cx="3546043" cy="2331720"/>
          </a:xfrm>
          <a:prstGeom prst="roundRect">
            <a:avLst>
              <a:gd name="adj" fmla="val 499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2" name="Rounded Rectangle 21"/>
          <p:cNvSpPr/>
          <p:nvPr/>
        </p:nvSpPr>
        <p:spPr>
          <a:xfrm>
            <a:off x="8366760" y="4017874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42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82518" y="4138260"/>
            <a:ext cx="157664" cy="14014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57188" y="449449"/>
            <a:ext cx="3349888" cy="4095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322" b="1" i="0">
                <a:solidFill>
                  <a:srgbClr val="425563"/>
                </a:solidFill>
                <a:latin typeface="Montserrat"/>
              </a:rPr>
              <a:t>¿Qué hace el MVP?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188" y="912293"/>
            <a:ext cx="7390917" cy="22859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425563"/>
                </a:solidFill>
                <a:latin typeface="Open Sans"/>
              </a:rPr>
              <a:t>El MVP cubre las operaciones esenciales que hoy se realizan de forma manual y dispersa.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594" y="1990649"/>
            <a:ext cx="3191256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425563"/>
                </a:solidFill>
                <a:latin typeface="Montserrat"/>
              </a:rPr>
              <a:t>Solicitar evaluación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4594" y="2356409"/>
            <a:ext cx="3191256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2E3D48"/>
                </a:solidFill>
                <a:latin typeface="Open Sans"/>
              </a:rPr>
              <a:t>Registrar una evaluación psicolaboral con datos del candidato y cargo.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00677" y="1990649"/>
            <a:ext cx="3191256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425563"/>
                </a:solidFill>
                <a:latin typeface="Montserrat"/>
              </a:rPr>
              <a:t>Base de datos editable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00677" y="2356409"/>
            <a:ext cx="3191256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2E3D48"/>
                </a:solidFill>
                <a:latin typeface="Open Sans"/>
              </a:rPr>
              <a:t>Mantener un registro centralizado y actualizable de todas las evaluaciones.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1990649"/>
            <a:ext cx="3191256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425563"/>
                </a:solidFill>
                <a:latin typeface="Montserrat"/>
              </a:rPr>
              <a:t>Listado y búsqueda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2356409"/>
            <a:ext cx="3191256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2E3D48"/>
                </a:solidFill>
                <a:latin typeface="Open Sans"/>
              </a:rPr>
              <a:t>Visualizar solicitudes y filtrar por criterios para encontrar rápidamente lo que se necesita.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4594" y="4505249"/>
            <a:ext cx="1195840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425563"/>
                </a:solidFill>
                <a:latin typeface="Montserrat"/>
              </a:rPr>
              <a:t>Detalle y estado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4594" y="4871009"/>
            <a:ext cx="3191256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2E3D48"/>
                </a:solidFill>
                <a:latin typeface="Open Sans"/>
              </a:rPr>
              <a:t>Consultar el detalle y seguir el avance de cada solicitud: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5321" y="5571952"/>
            <a:ext cx="604649" cy="215442"/>
          </a:xfrm>
          <a:prstGeom prst="rect">
            <a:avLst/>
          </a:prstGeom>
          <a:solidFill>
            <a:srgbClr val="EEE9E4"/>
          </a:solidFill>
        </p:spPr>
        <p:txBody>
          <a:bodyPr wrap="none" lIns="53338" tIns="22859" rIns="53338" bIns="22859">
            <a:spAutoFit/>
          </a:bodyPr>
          <a:lstStyle/>
          <a:p>
            <a:pPr algn="l"/>
            <a:r>
              <a:rPr sz="1050" b="1" i="0">
                <a:solidFill>
                  <a:srgbClr val="425563"/>
                </a:solidFill>
                <a:latin typeface="Open Sans"/>
              </a:rPr>
              <a:t>Creada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5571952"/>
            <a:ext cx="777773" cy="207747"/>
          </a:xfrm>
          <a:prstGeom prst="rect">
            <a:avLst/>
          </a:prstGeom>
          <a:solidFill>
            <a:srgbClr val="EEE9E4"/>
          </a:solidFill>
        </p:spPr>
        <p:txBody>
          <a:bodyPr wrap="none" lIns="53338" tIns="22859" rIns="53338" bIns="22859">
            <a:spAutoFit/>
          </a:bodyPr>
          <a:lstStyle/>
          <a:p>
            <a:pPr algn="l"/>
            <a:r>
              <a:rPr sz="1050" b="1" i="0">
                <a:solidFill>
                  <a:srgbClr val="425563"/>
                </a:solidFill>
                <a:latin typeface="Open Sans"/>
              </a:rPr>
              <a:t>Agendada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13748" y="5571952"/>
            <a:ext cx="784185" cy="215442"/>
          </a:xfrm>
          <a:prstGeom prst="rect">
            <a:avLst/>
          </a:prstGeom>
          <a:solidFill>
            <a:srgbClr val="EEE9E4"/>
          </a:solidFill>
        </p:spPr>
        <p:txBody>
          <a:bodyPr wrap="none" lIns="53338" tIns="22859" rIns="53338" bIns="22859">
            <a:spAutoFit/>
          </a:bodyPr>
          <a:lstStyle/>
          <a:p>
            <a:pPr algn="l"/>
            <a:r>
              <a:rPr sz="1050" b="1" i="0">
                <a:solidFill>
                  <a:srgbClr val="425563"/>
                </a:solidFill>
                <a:latin typeface="Open Sans"/>
              </a:rPr>
              <a:t>Realizada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63686" y="5571952"/>
            <a:ext cx="673578" cy="215442"/>
          </a:xfrm>
          <a:prstGeom prst="rect">
            <a:avLst/>
          </a:prstGeom>
          <a:solidFill>
            <a:srgbClr val="EEE9E4"/>
          </a:solidFill>
        </p:spPr>
        <p:txBody>
          <a:bodyPr wrap="none" lIns="53338" tIns="22859" rIns="53338" bIns="22859">
            <a:spAutoFit/>
          </a:bodyPr>
          <a:lstStyle/>
          <a:p>
            <a:pPr algn="l"/>
            <a:r>
              <a:rPr sz="1050" b="1" i="0">
                <a:solidFill>
                  <a:srgbClr val="425563"/>
                </a:solidFill>
                <a:latin typeface="Open Sans"/>
              </a:rPr>
              <a:t>Informe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00677" y="4505249"/>
            <a:ext cx="3191256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425563"/>
                </a:solidFill>
                <a:latin typeface="Montserrat"/>
              </a:rPr>
              <a:t>Actualizar estado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00677" y="4871009"/>
            <a:ext cx="3191256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2E3D48"/>
                </a:solidFill>
                <a:latin typeface="Open Sans"/>
              </a:rPr>
              <a:t>Registrar la fecha de evaluación y actualizar el estado del proceso al avanzar.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4505249"/>
            <a:ext cx="3191256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425563"/>
                </a:solidFill>
                <a:latin typeface="Montserrat"/>
              </a:rPr>
              <a:t>Dashboard de indicadores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66760" y="4871009"/>
            <a:ext cx="3191256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2E3D48"/>
                </a:solidFill>
                <a:latin typeface="Open Sans"/>
              </a:rPr>
              <a:t>Visualizar un panel con indicadores generales del proceso de evaluación.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188" y="6381649"/>
            <a:ext cx="3894288" cy="232404"/>
          </a:xfrm>
          <a:prstGeom prst="rect">
            <a:avLst/>
          </a:prstGeom>
          <a:noFill/>
        </p:spPr>
        <p:txBody>
          <a:bodyPr wrap="none" lIns="0" tIns="60958" rIns="0" bIns="0">
            <a:spAutoFit/>
          </a:bodyPr>
          <a:lstStyle/>
          <a:p>
            <a:pPr algn="l"/>
            <a:r>
              <a:rPr sz="911" b="0" i="0">
                <a:solidFill>
                  <a:srgbClr val="6E6259"/>
                </a:solidFill>
                <a:latin typeface="Open Sans"/>
              </a:rPr>
              <a:t>DUOC UC · Septiembre 2026 · Proyecto VcM Full Stack II — AquaChile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67522" y="5639562"/>
            <a:ext cx="49493" cy="79188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101111" y="5622244"/>
            <a:ext cx="49493" cy="79188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042389" y="5622244"/>
            <a:ext cx="49493" cy="791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76678" cy="68578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829175" y="0"/>
            <a:ext cx="47625" cy="6858000"/>
          </a:xfrm>
          <a:prstGeom prst="rect">
            <a:avLst/>
          </a:prstGeom>
          <a:solidFill>
            <a:srgbClr val="FE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0" y="2708820"/>
            <a:ext cx="64008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495925" y="2832645"/>
            <a:ext cx="342900" cy="342900"/>
          </a:xfrm>
          <a:prstGeom prst="ellipse">
            <a:avLst/>
          </a:prstGeom>
          <a:solidFill>
            <a:srgbClr val="42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03946" y="2953390"/>
            <a:ext cx="126573" cy="10125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334000" y="3398341"/>
            <a:ext cx="64008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495925" y="3522166"/>
            <a:ext cx="342900" cy="342900"/>
          </a:xfrm>
          <a:prstGeom prst="ellipse">
            <a:avLst/>
          </a:prstGeom>
          <a:solidFill>
            <a:srgbClr val="42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94886" y="3621202"/>
            <a:ext cx="144664" cy="14466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334000" y="4087862"/>
            <a:ext cx="64008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495925" y="4211687"/>
            <a:ext cx="342900" cy="342900"/>
          </a:xfrm>
          <a:prstGeom prst="ellipse">
            <a:avLst/>
          </a:prstGeom>
          <a:solidFill>
            <a:srgbClr val="42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03932" y="4332397"/>
            <a:ext cx="126598" cy="101279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334000" y="4891682"/>
            <a:ext cx="6400800" cy="441870"/>
          </a:xfrm>
          <a:prstGeom prst="roundRect">
            <a:avLst>
              <a:gd name="adj" fmla="val 17244"/>
            </a:avLst>
          </a:prstGeom>
          <a:solidFill>
            <a:srgbClr val="42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16622" y="5013447"/>
            <a:ext cx="198085" cy="19808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33866" y="1301469"/>
            <a:ext cx="2509179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C93F00"/>
                </a:solidFill>
                <a:latin typeface="Open Sans"/>
              </a:rPr>
              <a:t>Vinculación con el Medio · VcM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3866" y="1520538"/>
            <a:ext cx="5250971" cy="4095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322" b="1" i="0">
                <a:solidFill>
                  <a:srgbClr val="425563"/>
                </a:solidFill>
                <a:latin typeface="Montserrat"/>
              </a:rPr>
              <a:t>Lo que este proyecto significa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71906" y="2016421"/>
            <a:ext cx="5855555" cy="450937"/>
          </a:xfrm>
          <a:prstGeom prst="rect">
            <a:avLst/>
          </a:prstGeom>
          <a:noFill/>
        </p:spPr>
        <p:txBody>
          <a:bodyPr wrap="square" lIns="129536" tIns="0" rIns="0" bIns="0">
            <a:spAutoFit/>
          </a:bodyPr>
          <a:lstStyle/>
          <a:p>
            <a:pPr algn="l"/>
            <a:r>
              <a:rPr sz="1145" b="1" i="0">
                <a:solidFill>
                  <a:srgbClr val="425563"/>
                </a:solidFill>
                <a:latin typeface="Open Sans"/>
              </a:rPr>
              <a:t>Este no es solo un ejercicio académico — es una solución real que puede mejorar el trabajo diario de personas reales.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8156" y="2832515"/>
            <a:ext cx="5095747" cy="262883"/>
          </a:xfrm>
          <a:prstGeom prst="rect">
            <a:avLst/>
          </a:prstGeom>
          <a:noFill/>
        </p:spPr>
        <p:txBody>
          <a:bodyPr wrap="none" lIns="0" tIns="53338" rIns="0" bIns="0">
            <a:spAutoFit/>
          </a:bodyPr>
          <a:lstStyle/>
          <a:p>
            <a:pPr algn="l"/>
            <a:r>
              <a:rPr sz="1139" b="0" i="0">
                <a:solidFill>
                  <a:srgbClr val="2E3D48"/>
                </a:solidFill>
                <a:latin typeface="Open Sans"/>
              </a:rPr>
              <a:t>Aplican sus habilidades Full Stack en un contexto empresarial auténtico.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68156" y="3522018"/>
            <a:ext cx="5276122" cy="262883"/>
          </a:xfrm>
          <a:prstGeom prst="rect">
            <a:avLst/>
          </a:prstGeom>
          <a:noFill/>
        </p:spPr>
        <p:txBody>
          <a:bodyPr wrap="none" lIns="0" tIns="53338" rIns="0" bIns="0">
            <a:spAutoFit/>
          </a:bodyPr>
          <a:lstStyle/>
          <a:p>
            <a:pPr algn="l"/>
            <a:r>
              <a:rPr sz="1139" b="0" i="0">
                <a:solidFill>
                  <a:srgbClr val="2E3D48"/>
                </a:solidFill>
                <a:latin typeface="Open Sans"/>
              </a:rPr>
              <a:t>Entregan un producto funcional, desplegado y validado por la contraparte.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68156" y="4211522"/>
            <a:ext cx="4501640" cy="262883"/>
          </a:xfrm>
          <a:prstGeom prst="rect">
            <a:avLst/>
          </a:prstGeom>
          <a:noFill/>
        </p:spPr>
        <p:txBody>
          <a:bodyPr wrap="none" lIns="0" tIns="53338" rIns="0" bIns="0">
            <a:spAutoFit/>
          </a:bodyPr>
          <a:lstStyle/>
          <a:p>
            <a:pPr algn="l"/>
            <a:r>
              <a:rPr sz="1139" b="0" i="0">
                <a:solidFill>
                  <a:srgbClr val="2E3D48"/>
                </a:solidFill>
                <a:latin typeface="Open Sans"/>
              </a:rPr>
              <a:t>Demuestran que el aprendizaje tiene impacto más allá del aula.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29005" y="5017168"/>
            <a:ext cx="4239263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7" b="1" i="0">
                <a:solidFill>
                  <a:srgbClr val="FFFFFF"/>
                </a:solidFill>
                <a:latin typeface="Montserrat"/>
              </a:rPr>
              <a:t>El desafío está claro: ¿están listos para construirlo?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3866" y="5516176"/>
            <a:ext cx="2929905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88" b="0" i="0">
                <a:solidFill>
                  <a:srgbClr val="6E6259"/>
                </a:solidFill>
                <a:latin typeface="Open Sans"/>
              </a:rPr>
              <a:t>DUOC UC · Full Stack II · AquaChile · Septiembre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668</Words>
  <Application>Microsoft Office PowerPoint</Application>
  <PresentationFormat>Panorámica</PresentationFormat>
  <Paragraphs>91</Paragraphs>
  <Slides>7</Slides>
  <Notes>0</Notes>
  <HiddenSlides>1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Open Sans</vt:lpstr>
      <vt:lpstr>Arial</vt:lpstr>
      <vt:lpstr>Montserrat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Maria Victoria Bustamante Volgger</dc:creator>
  <cp:keywords/>
  <dc:description>generated using python-pptx</dc:description>
  <cp:lastModifiedBy>Maria Victoria Bustamante Volgger</cp:lastModifiedBy>
  <cp:revision>46</cp:revision>
  <dcterms:created xsi:type="dcterms:W3CDTF">2026-09-08T19:54:48Z</dcterms:created>
  <dcterms:modified xsi:type="dcterms:W3CDTF">2026-09-09T14:49:56Z</dcterms:modified>
  <cp:category/>
</cp:coreProperties>
</file>